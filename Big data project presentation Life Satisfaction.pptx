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8bcd436e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8bcd436e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8bcd436e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8bcd436e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8bcd436e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8bcd436e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8bcd436e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8bcd436e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8bcd436e8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8bcd436e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2b113fb6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2b113fb6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2b113fb6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2b113fb6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2b69eae7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2b69eae7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2b69eae7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2b69eae7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2b69eae7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2b69eae7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2b69eae7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2b69eae7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2b69eae7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2b69eae7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2b69eae7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2b69eae7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hyperlink" Target="https://ess.sikt.no/en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11716"/>
            <a:ext cx="8520600" cy="14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600">
                <a:solidFill>
                  <a:srgbClr val="4F8A6D"/>
                </a:solidFill>
                <a:latin typeface="Calibri"/>
                <a:ea typeface="Calibri"/>
                <a:cs typeface="Calibri"/>
                <a:sym typeface="Calibri"/>
              </a:rPr>
              <a:t>Data-driven well-being</a:t>
            </a:r>
            <a:endParaRPr b="1" sz="3600">
              <a:solidFill>
                <a:srgbClr val="4F8A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600">
                <a:solidFill>
                  <a:srgbClr val="4F8A6D"/>
                </a:solidFill>
                <a:latin typeface="Calibri"/>
                <a:ea typeface="Calibri"/>
                <a:cs typeface="Calibri"/>
                <a:sym typeface="Calibri"/>
              </a:rPr>
              <a:t> Teaching life satisfaction through prediction and visualization</a:t>
            </a:r>
            <a:endParaRPr sz="2600">
              <a:solidFill>
                <a:srgbClr val="4F8A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05931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l" sz="1455">
                <a:solidFill>
                  <a:srgbClr val="9DB8AB"/>
                </a:solidFill>
                <a:highlight>
                  <a:schemeClr val="lt1"/>
                </a:highlight>
              </a:rPr>
              <a:t>Anna Lorenz</a:t>
            </a:r>
            <a:r>
              <a:rPr lang="pl" sz="1455">
                <a:solidFill>
                  <a:srgbClr val="9DB8AB"/>
                </a:solidFill>
                <a:highlight>
                  <a:schemeClr val="lt1"/>
                </a:highlight>
              </a:rPr>
              <a:t> 429840</a:t>
            </a:r>
            <a:endParaRPr sz="1455">
              <a:solidFill>
                <a:srgbClr val="9DB8AB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l" sz="1455">
                <a:solidFill>
                  <a:srgbClr val="9DB8AB"/>
                </a:solidFill>
                <a:highlight>
                  <a:srgbClr val="FFFFFF"/>
                </a:highlight>
              </a:rPr>
              <a:t>Berker Basergun 474551</a:t>
            </a:r>
            <a:endParaRPr sz="1455">
              <a:solidFill>
                <a:srgbClr val="9DB8AB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l" sz="1455">
                <a:solidFill>
                  <a:srgbClr val="9DB8AB"/>
                </a:solidFill>
                <a:highlight>
                  <a:srgbClr val="FFFFFF"/>
                </a:highlight>
              </a:rPr>
              <a:t>Zofia Broszczak 446277</a:t>
            </a:r>
            <a:endParaRPr sz="1455">
              <a:solidFill>
                <a:srgbClr val="9DB8AB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55">
              <a:solidFill>
                <a:srgbClr val="9DB8AB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l" sz="1455">
                <a:solidFill>
                  <a:srgbClr val="9DB8AB"/>
                </a:solidFill>
                <a:highlight>
                  <a:srgbClr val="FFFFFF"/>
                </a:highlight>
              </a:rPr>
              <a:t>Big Data Analytics - Data Science and Business </a:t>
            </a:r>
            <a:r>
              <a:rPr lang="pl" sz="1455">
                <a:solidFill>
                  <a:srgbClr val="9DB8AB"/>
                </a:solidFill>
                <a:highlight>
                  <a:srgbClr val="FFFFFF"/>
                </a:highlight>
              </a:rPr>
              <a:t>Analytics</a:t>
            </a:r>
            <a:endParaRPr sz="1455">
              <a:solidFill>
                <a:srgbClr val="9DB8AB"/>
              </a:solidFill>
              <a:highlight>
                <a:srgbClr val="FFFFFF"/>
              </a:highlight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8459" l="30454" r="37836" t="61521"/>
          <a:stretch/>
        </p:blipFill>
        <p:spPr>
          <a:xfrm>
            <a:off x="3168300" y="3328749"/>
            <a:ext cx="2446426" cy="154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964138" y="487060"/>
            <a:ext cx="7240500" cy="18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800">
                <a:solidFill>
                  <a:srgbClr val="4F8A6D"/>
                </a:solidFill>
                <a:latin typeface="Calibri"/>
                <a:ea typeface="Calibri"/>
                <a:cs typeface="Calibri"/>
                <a:sym typeface="Calibri"/>
              </a:rPr>
              <a:t>Project’s objective</a:t>
            </a:r>
            <a:r>
              <a:rPr lang="pl" sz="2800">
                <a:solidFill>
                  <a:srgbClr val="4F8A6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optimizing your happiness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lang="p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and predict life satisfaction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lang="p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helping you understanding what is the cause of your (un)happiness and what you can do to improve your well-being.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3594318" y="3261618"/>
            <a:ext cx="1979992" cy="1619984"/>
            <a:chOff x="3160550" y="2013875"/>
            <a:chExt cx="1944600" cy="1569600"/>
          </a:xfrm>
        </p:grpSpPr>
        <p:sp>
          <p:nvSpPr>
            <p:cNvPr id="63" name="Google Shape;63;p14"/>
            <p:cNvSpPr/>
            <p:nvPr/>
          </p:nvSpPr>
          <p:spPr>
            <a:xfrm flipH="1" rot="10800000">
              <a:off x="3160550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7CA6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3405195" y="2256385"/>
              <a:ext cx="1451700" cy="459900"/>
            </a:xfrm>
            <a:prstGeom prst="rect">
              <a:avLst/>
            </a:prstGeom>
            <a:solidFill>
              <a:srgbClr val="7CA69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SILVER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3181096" y="2645607"/>
              <a:ext cx="1877100" cy="512400"/>
            </a:xfrm>
            <a:prstGeom prst="rect">
              <a:avLst/>
            </a:prstGeom>
            <a:solidFill>
              <a:srgbClr val="7CA69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pl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preprocessing and creating one final dataset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947125" y="3261618"/>
            <a:ext cx="2051775" cy="1619984"/>
            <a:chOff x="905945" y="2013875"/>
            <a:chExt cx="2015100" cy="1569600"/>
          </a:xfrm>
        </p:grpSpPr>
        <p:sp>
          <p:nvSpPr>
            <p:cNvPr id="67" name="Google Shape;67;p14"/>
            <p:cNvSpPr/>
            <p:nvPr/>
          </p:nvSpPr>
          <p:spPr>
            <a:xfrm>
              <a:off x="949615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B4CC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1174380" y="2256385"/>
              <a:ext cx="1451700" cy="459900"/>
            </a:xfrm>
            <a:prstGeom prst="rect">
              <a:avLst/>
            </a:prstGeom>
            <a:solidFill>
              <a:srgbClr val="B4CCC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BRONZE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905945" y="2645632"/>
              <a:ext cx="20151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Raw survey data and metadata ingestion 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6207524" y="3261618"/>
            <a:ext cx="1980093" cy="1619984"/>
            <a:chOff x="5531594" y="2013875"/>
            <a:chExt cx="3001506" cy="1569600"/>
          </a:xfrm>
        </p:grpSpPr>
        <p:sp>
          <p:nvSpPr>
            <p:cNvPr id="71" name="Google Shape;71;p14"/>
            <p:cNvSpPr/>
            <p:nvPr/>
          </p:nvSpPr>
          <p:spPr>
            <a:xfrm>
              <a:off x="5531594" y="2013875"/>
              <a:ext cx="30012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6D91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5875883" y="2256387"/>
              <a:ext cx="2417100" cy="459900"/>
            </a:xfrm>
            <a:prstGeom prst="rect">
              <a:avLst/>
            </a:prstGeom>
            <a:solidFill>
              <a:srgbClr val="6D917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GOLD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5531600" y="2629887"/>
              <a:ext cx="3001500" cy="512400"/>
            </a:xfrm>
            <a:prstGeom prst="rect">
              <a:avLst/>
            </a:prstGeom>
            <a:solidFill>
              <a:srgbClr val="6D917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pl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 models and PowerBI visualizations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14"/>
          <p:cNvSpPr/>
          <p:nvPr/>
        </p:nvSpPr>
        <p:spPr>
          <a:xfrm>
            <a:off x="3166160" y="3949175"/>
            <a:ext cx="260400" cy="260400"/>
          </a:xfrm>
          <a:prstGeom prst="ellipse">
            <a:avLst/>
          </a:prstGeom>
          <a:solidFill>
            <a:srgbClr val="D7EBE1"/>
          </a:solidFill>
          <a:ln cap="flat" cmpd="sng" w="9525">
            <a:solidFill>
              <a:srgbClr val="417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203234" y="4036648"/>
            <a:ext cx="197700" cy="81900"/>
          </a:xfrm>
          <a:prstGeom prst="rightArrow">
            <a:avLst>
              <a:gd fmla="val 32020" name="adj1"/>
              <a:gd fmla="val 66970" name="adj2"/>
            </a:avLst>
          </a:prstGeom>
          <a:solidFill>
            <a:srgbClr val="4171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5727555" y="3939319"/>
            <a:ext cx="260400" cy="260400"/>
          </a:xfrm>
          <a:prstGeom prst="ellipse">
            <a:avLst/>
          </a:prstGeom>
          <a:solidFill>
            <a:srgbClr val="D7EBE1"/>
          </a:solidFill>
          <a:ln cap="flat" cmpd="sng" w="9525">
            <a:solidFill>
              <a:srgbClr val="417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5764629" y="4026792"/>
            <a:ext cx="197700" cy="81900"/>
          </a:xfrm>
          <a:prstGeom prst="rightArrow">
            <a:avLst>
              <a:gd fmla="val 32020" name="adj1"/>
              <a:gd fmla="val 66970" name="adj2"/>
            </a:avLst>
          </a:prstGeom>
          <a:solidFill>
            <a:srgbClr val="4171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0" y="251808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600">
                <a:solidFill>
                  <a:srgbClr val="4F8A6D"/>
                </a:solidFill>
                <a:latin typeface="Calibri"/>
                <a:ea typeface="Calibri"/>
                <a:cs typeface="Calibri"/>
                <a:sym typeface="Calibri"/>
              </a:rPr>
              <a:t>Medallion</a:t>
            </a:r>
            <a:r>
              <a:rPr b="1" lang="pl" sz="2600">
                <a:solidFill>
                  <a:srgbClr val="4F8A6D"/>
                </a:solidFill>
                <a:latin typeface="Calibri"/>
                <a:ea typeface="Calibri"/>
                <a:cs typeface="Calibri"/>
                <a:sym typeface="Calibri"/>
              </a:rPr>
              <a:t> architecture</a:t>
            </a:r>
            <a:r>
              <a:rPr lang="p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implementation in DataBricks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728400" y="1078501"/>
            <a:ext cx="7687200" cy="172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AB3A4"/>
              </a:gs>
              <a:gs pos="42000">
                <a:srgbClr val="E6C984"/>
              </a:gs>
              <a:gs pos="100000">
                <a:srgbClr val="92B5A2"/>
              </a:gs>
            </a:gsLst>
            <a:lin ang="0" scaled="0"/>
          </a:gradFill>
          <a:ln cap="flat" cmpd="sng" w="9525">
            <a:solidFill>
              <a:srgbClr val="2E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472125" y="129075"/>
            <a:ext cx="83532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" sz="2644">
                <a:solidFill>
                  <a:srgbClr val="2E4C3C"/>
                </a:solidFill>
                <a:highlight>
                  <a:schemeClr val="lt1"/>
                </a:highlight>
              </a:rPr>
              <a:t>Bronze layer - </a:t>
            </a:r>
            <a:r>
              <a:rPr b="1" lang="pl" sz="2222">
                <a:solidFill>
                  <a:srgbClr val="4F8A6D"/>
                </a:solidFill>
                <a:highlight>
                  <a:schemeClr val="lt1"/>
                </a:highlight>
              </a:rPr>
              <a:t>Data ingestion</a:t>
            </a:r>
            <a:endParaRPr b="1" sz="2644">
              <a:solidFill>
                <a:srgbClr val="2E4C3C"/>
              </a:solidFill>
              <a:highlight>
                <a:schemeClr val="lt1"/>
              </a:highlight>
            </a:endParaRPr>
          </a:p>
        </p:txBody>
      </p:sp>
      <p:grpSp>
        <p:nvGrpSpPr>
          <p:cNvPr id="85" name="Google Shape;85;p15"/>
          <p:cNvGrpSpPr/>
          <p:nvPr/>
        </p:nvGrpSpPr>
        <p:grpSpPr>
          <a:xfrm>
            <a:off x="5270752" y="974511"/>
            <a:ext cx="3554566" cy="3704279"/>
            <a:chOff x="5270602" y="1120460"/>
            <a:chExt cx="3554566" cy="3704279"/>
          </a:xfrm>
        </p:grpSpPr>
        <p:grpSp>
          <p:nvGrpSpPr>
            <p:cNvPr id="86" name="Google Shape;86;p15"/>
            <p:cNvGrpSpPr/>
            <p:nvPr/>
          </p:nvGrpSpPr>
          <p:grpSpPr>
            <a:xfrm>
              <a:off x="5270602" y="1120460"/>
              <a:ext cx="3554566" cy="3704279"/>
              <a:chOff x="5589298" y="1520096"/>
              <a:chExt cx="2802402" cy="2920434"/>
            </a:xfrm>
          </p:grpSpPr>
          <p:pic>
            <p:nvPicPr>
              <p:cNvPr id="87" name="Google Shape;87;p1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589300" y="3566398"/>
                <a:ext cx="2802400" cy="8741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" name="Google Shape;88;p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589298" y="1520096"/>
                <a:ext cx="2802400" cy="20492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9" name="Google Shape;89;p15"/>
            <p:cNvSpPr/>
            <p:nvPr/>
          </p:nvSpPr>
          <p:spPr>
            <a:xfrm>
              <a:off x="5354050" y="1363575"/>
              <a:ext cx="3348900" cy="3078000"/>
            </a:xfrm>
            <a:prstGeom prst="rect">
              <a:avLst/>
            </a:prstGeom>
            <a:noFill/>
            <a:ln cap="flat" cmpd="sng" w="28575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5354050" y="4478385"/>
              <a:ext cx="3348900" cy="143400"/>
            </a:xfrm>
            <a:prstGeom prst="rect">
              <a:avLst/>
            </a:prstGeom>
            <a:noFill/>
            <a:ln cap="flat" cmpd="sng" w="28575">
              <a:solidFill>
                <a:srgbClr val="C15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5354050" y="4658594"/>
              <a:ext cx="3348900" cy="143400"/>
            </a:xfrm>
            <a:prstGeom prst="rect">
              <a:avLst/>
            </a:prstGeom>
            <a:noFill/>
            <a:ln cap="flat" cmpd="sng" w="28575">
              <a:solidFill>
                <a:srgbClr val="E3B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1406273" y="2766485"/>
            <a:ext cx="2547802" cy="2280489"/>
            <a:chOff x="483604" y="2986420"/>
            <a:chExt cx="2243573" cy="2008180"/>
          </a:xfrm>
        </p:grpSpPr>
        <p:pic>
          <p:nvPicPr>
            <p:cNvPr id="93" name="Google Shape;93;p15"/>
            <p:cNvPicPr preferRelativeResize="0"/>
            <p:nvPr/>
          </p:nvPicPr>
          <p:blipFill rotWithShape="1">
            <a:blip r:embed="rId5">
              <a:alphaModFix/>
            </a:blip>
            <a:srcRect b="0" l="0" r="45169" t="0"/>
            <a:stretch/>
          </p:blipFill>
          <p:spPr>
            <a:xfrm>
              <a:off x="517916" y="2993128"/>
              <a:ext cx="2209262" cy="2001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5"/>
            <p:cNvSpPr/>
            <p:nvPr/>
          </p:nvSpPr>
          <p:spPr>
            <a:xfrm>
              <a:off x="483604" y="3489520"/>
              <a:ext cx="1213418" cy="1295921"/>
            </a:xfrm>
            <a:prstGeom prst="roundRect">
              <a:avLst>
                <a:gd fmla="val 16667" name="adj"/>
              </a:avLst>
            </a:prstGeom>
            <a:noFill/>
            <a:ln cap="flat" cmpd="sng" w="30875">
              <a:solidFill>
                <a:srgbClr val="C15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750" lIns="98750" spcFirstLastPara="1" rIns="98750" wrap="square" tIns="98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528023" y="2986420"/>
              <a:ext cx="1256100" cy="143400"/>
            </a:xfrm>
            <a:prstGeom prst="roundRect">
              <a:avLst>
                <a:gd fmla="val 16667" name="adj"/>
              </a:avLst>
            </a:prstGeom>
            <a:noFill/>
            <a:ln cap="flat" cmpd="sng" w="30875">
              <a:solidFill>
                <a:srgbClr val="E3B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750" lIns="98750" spcFirstLastPara="1" rIns="98750" wrap="square" tIns="98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/>
            </a:p>
          </p:txBody>
        </p:sp>
      </p:grpSp>
      <p:grpSp>
        <p:nvGrpSpPr>
          <p:cNvPr id="96" name="Google Shape;96;p15"/>
          <p:cNvGrpSpPr/>
          <p:nvPr/>
        </p:nvGrpSpPr>
        <p:grpSpPr>
          <a:xfrm>
            <a:off x="253775" y="720687"/>
            <a:ext cx="4852800" cy="1836600"/>
            <a:chOff x="253775" y="720687"/>
            <a:chExt cx="4852800" cy="1836600"/>
          </a:xfrm>
        </p:grpSpPr>
        <p:sp>
          <p:nvSpPr>
            <p:cNvPr id="97" name="Google Shape;97;p15"/>
            <p:cNvSpPr txBox="1"/>
            <p:nvPr/>
          </p:nvSpPr>
          <p:spPr>
            <a:xfrm>
              <a:off x="253775" y="720687"/>
              <a:ext cx="4852800" cy="18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>
                  <a:solidFill>
                    <a:schemeClr val="dk1"/>
                  </a:solidFill>
                  <a:highlight>
                    <a:srgbClr val="FFFFFF"/>
                  </a:highlight>
                </a:rPr>
                <a:t>European Social Survey</a:t>
              </a:r>
              <a:r>
                <a:rPr b="1" lang="pl" sz="1300">
                  <a:solidFill>
                    <a:schemeClr val="dk1"/>
                  </a:solidFill>
                  <a:highlight>
                    <a:srgbClr val="FFFFFF"/>
                  </a:highlight>
                </a:rPr>
                <a:t> </a:t>
              </a:r>
              <a:r>
                <a:rPr lang="pl" sz="1300">
                  <a:solidFill>
                    <a:schemeClr val="dk1"/>
                  </a:solidFill>
                  <a:highlight>
                    <a:srgbClr val="FFFFFF"/>
                  </a:highlight>
                </a:rPr>
                <a:t>(</a:t>
              </a:r>
              <a:r>
                <a:rPr lang="pl" sz="1300" u="sng">
                  <a:solidFill>
                    <a:schemeClr val="dk1"/>
                  </a:solidFill>
                  <a:highlight>
                    <a:srgbClr val="FFFFFF"/>
                  </a:highlight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https://ess.sikt.no/en/</a:t>
              </a:r>
              <a:r>
                <a:rPr lang="pl" sz="1300">
                  <a:solidFill>
                    <a:schemeClr val="dk1"/>
                  </a:solidFill>
                  <a:highlight>
                    <a:srgbClr val="FFFFFF"/>
                  </a:highlight>
                </a:rPr>
                <a:t>):</a:t>
              </a:r>
              <a:endParaRPr sz="1300">
                <a:solidFill>
                  <a:schemeClr val="dk1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300">
                  <a:solidFill>
                    <a:srgbClr val="000000"/>
                  </a:solidFill>
                  <a:highlight>
                    <a:srgbClr val="FFFFFF"/>
                  </a:highlight>
                </a:rPr>
                <a:t>- </a:t>
              </a:r>
              <a:r>
                <a:rPr lang="pl" sz="1200">
                  <a:solidFill>
                    <a:srgbClr val="000000"/>
                  </a:solidFill>
                  <a:highlight>
                    <a:srgbClr val="FFFFFF"/>
                  </a:highlight>
                </a:rPr>
                <a:t>survey data measuring public attitudes, beliefs and behaviour.</a:t>
              </a:r>
              <a:endParaRPr sz="1200">
                <a:solidFill>
                  <a:srgbClr val="000000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200">
                  <a:solidFill>
                    <a:schemeClr val="dk1"/>
                  </a:solidFill>
                  <a:highlight>
                    <a:srgbClr val="FFFFFF"/>
                  </a:highlight>
                </a:rPr>
                <a:t>- 11 rounds, every two years</a:t>
              </a:r>
              <a:endParaRPr sz="1200">
                <a:solidFill>
                  <a:schemeClr val="dk1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E3B23C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l" sz="1300">
                  <a:solidFill>
                    <a:schemeClr val="dk1"/>
                  </a:solidFill>
                  <a:highlight>
                    <a:schemeClr val="lt1"/>
                  </a:highlight>
                </a:rPr>
                <a:t>- </a:t>
              </a:r>
              <a:r>
                <a:rPr b="1" lang="pl" sz="1300">
                  <a:highlight>
                    <a:schemeClr val="lt1"/>
                  </a:highlight>
                </a:rPr>
                <a:t>CSV data</a:t>
              </a:r>
              <a:r>
                <a:rPr lang="pl" sz="1300">
                  <a:highlight>
                    <a:schemeClr val="lt1"/>
                  </a:highlight>
                </a:rPr>
                <a:t>: </a:t>
              </a:r>
              <a:r>
                <a:rPr lang="pl" sz="1200">
                  <a:highlight>
                    <a:schemeClr val="lt1"/>
                  </a:highlight>
                </a:rPr>
                <a:t>17 datasets, </a:t>
              </a:r>
              <a:r>
                <a:rPr lang="pl" sz="1300">
                  <a:solidFill>
                    <a:schemeClr val="dk1"/>
                  </a:solidFill>
                  <a:highlight>
                    <a:schemeClr val="lt1"/>
                  </a:highlight>
                </a:rPr>
                <a:t>500-600 variables per round (present in one, some or all rounds, may require harmonization across rounds)</a:t>
              </a:r>
              <a:endParaRPr sz="130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pl" sz="1300">
                  <a:solidFill>
                    <a:schemeClr val="dk1"/>
                  </a:solidFill>
                  <a:highlight>
                    <a:schemeClr val="lt1"/>
                  </a:highlight>
                </a:rPr>
                <a:t>- </a:t>
              </a:r>
              <a:r>
                <a:rPr b="1" lang="pl" sz="1300">
                  <a:highlight>
                    <a:schemeClr val="lt1"/>
                  </a:highlight>
                </a:rPr>
                <a:t>SPSS data</a:t>
              </a:r>
              <a:r>
                <a:rPr lang="pl" sz="1300">
                  <a:highlight>
                    <a:schemeClr val="lt1"/>
                  </a:highlight>
                </a:rPr>
                <a:t>: </a:t>
              </a:r>
              <a:r>
                <a:rPr b="1" lang="pl" sz="1300">
                  <a:solidFill>
                    <a:srgbClr val="E3B23C"/>
                  </a:solidFill>
                  <a:highlight>
                    <a:schemeClr val="lt1"/>
                  </a:highlight>
                </a:rPr>
                <a:t>variable label</a:t>
              </a:r>
              <a:r>
                <a:rPr lang="pl" sz="1300">
                  <a:highlight>
                    <a:schemeClr val="lt1"/>
                  </a:highlight>
                </a:rPr>
                <a:t> and </a:t>
              </a:r>
              <a:r>
                <a:rPr b="1" lang="pl" sz="1300">
                  <a:solidFill>
                    <a:srgbClr val="C15E36"/>
                  </a:solidFill>
                  <a:highlight>
                    <a:schemeClr val="lt1"/>
                  </a:highlight>
                </a:rPr>
                <a:t>value label</a:t>
              </a:r>
              <a:r>
                <a:rPr b="1" lang="pl" sz="1300">
                  <a:solidFill>
                    <a:srgbClr val="6AA84F"/>
                  </a:solidFill>
                  <a:highlight>
                    <a:schemeClr val="lt1"/>
                  </a:highlight>
                </a:rPr>
                <a:t> </a:t>
              </a:r>
              <a:r>
                <a:rPr lang="pl" sz="1300">
                  <a:solidFill>
                    <a:schemeClr val="dk1"/>
                  </a:solidFill>
                  <a:highlight>
                    <a:schemeClr val="lt1"/>
                  </a:highlight>
                </a:rPr>
                <a:t>metadata tables</a:t>
              </a:r>
              <a:endParaRPr sz="900">
                <a:solidFill>
                  <a:srgbClr val="000000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405050" y="1704787"/>
              <a:ext cx="841200" cy="199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114148"/>
            <a:ext cx="85206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190500" marR="1905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644">
                <a:solidFill>
                  <a:srgbClr val="2E4C3C"/>
                </a:solidFill>
                <a:highlight>
                  <a:schemeClr val="lt1"/>
                </a:highlight>
              </a:rPr>
              <a:t>Silver </a:t>
            </a:r>
            <a:r>
              <a:rPr b="1" lang="pl" sz="2644">
                <a:solidFill>
                  <a:srgbClr val="2E4C3C"/>
                </a:solidFill>
                <a:highlight>
                  <a:schemeClr val="lt1"/>
                </a:highlight>
              </a:rPr>
              <a:t>layer</a:t>
            </a:r>
            <a:endParaRPr b="1" sz="2644">
              <a:solidFill>
                <a:srgbClr val="2E4C3C"/>
              </a:solidFill>
              <a:highlight>
                <a:schemeClr val="lt1"/>
              </a:highlight>
            </a:endParaRPr>
          </a:p>
          <a:p>
            <a:pPr indent="0" lvl="0" marL="190500" marR="1905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00"/>
              <a:buFont typeface="Arial"/>
              <a:buNone/>
            </a:pPr>
            <a:r>
              <a:rPr b="1" lang="pl" sz="2222">
                <a:solidFill>
                  <a:srgbClr val="4F8A6D"/>
                </a:solidFill>
                <a:highlight>
                  <a:schemeClr val="lt1"/>
                </a:highlight>
              </a:rPr>
              <a:t>Data preparation and dataset creation</a:t>
            </a:r>
            <a:endParaRPr b="1" sz="2222">
              <a:solidFill>
                <a:srgbClr val="4F8A6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111175" y="911700"/>
            <a:ext cx="5503500" cy="4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400">
                <a:solidFill>
                  <a:srgbClr val="4F8A6D"/>
                </a:solidFill>
                <a:highlight>
                  <a:schemeClr val="lt1"/>
                </a:highlight>
              </a:rPr>
              <a:t>1. Feature selection</a:t>
            </a:r>
            <a:endParaRPr sz="1400">
              <a:solidFill>
                <a:srgbClr val="4F8A6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rgbClr val="88AE9C"/>
                </a:solidFill>
              </a:rPr>
              <a:t>- </a:t>
            </a:r>
            <a:r>
              <a:rPr b="1" lang="pl" sz="1000">
                <a:solidFill>
                  <a:srgbClr val="88AE9C"/>
                </a:solidFill>
              </a:rPr>
              <a:t>Target variable</a:t>
            </a:r>
            <a:r>
              <a:rPr lang="pl" sz="1000">
                <a:solidFill>
                  <a:srgbClr val="88AE9C"/>
                </a:solidFill>
              </a:rPr>
              <a:t> - life satisfaction</a:t>
            </a:r>
            <a:endParaRPr sz="1000">
              <a:solidFill>
                <a:srgbClr val="88AE9C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chemeClr val="dk1"/>
                </a:solidFill>
              </a:rPr>
              <a:t>- </a:t>
            </a:r>
            <a:r>
              <a:rPr b="1" lang="pl" sz="1000">
                <a:solidFill>
                  <a:schemeClr val="dk1"/>
                </a:solidFill>
              </a:rPr>
              <a:t>Cannot control</a:t>
            </a:r>
            <a:r>
              <a:rPr lang="pl" sz="1000">
                <a:solidFill>
                  <a:schemeClr val="dk1"/>
                </a:solidFill>
              </a:rPr>
              <a:t> but important for context (country, age, gender, household size)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chemeClr val="dk1"/>
                </a:solidFill>
              </a:rPr>
              <a:t>- </a:t>
            </a:r>
            <a:r>
              <a:rPr b="1" lang="pl" sz="1000">
                <a:solidFill>
                  <a:schemeClr val="dk1"/>
                </a:solidFill>
              </a:rPr>
              <a:t>Can partially control </a:t>
            </a:r>
            <a:r>
              <a:rPr lang="pl" sz="1000">
                <a:solidFill>
                  <a:schemeClr val="dk1"/>
                </a:solidFill>
              </a:rPr>
              <a:t>(income, years of education, unemployment, </a:t>
            </a:r>
            <a:r>
              <a:rPr lang="pl" sz="1000">
                <a:solidFill>
                  <a:schemeClr val="dk1"/>
                </a:solidFill>
              </a:rPr>
              <a:t>health, religiosity</a:t>
            </a:r>
            <a:r>
              <a:rPr lang="pl" sz="1000">
                <a:solidFill>
                  <a:schemeClr val="dk1"/>
                </a:solidFill>
              </a:rPr>
              <a:t>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chemeClr val="dk1"/>
                </a:solidFill>
              </a:rPr>
              <a:t>- </a:t>
            </a:r>
            <a:r>
              <a:rPr b="1" lang="pl" sz="1000">
                <a:solidFill>
                  <a:schemeClr val="dk1"/>
                </a:solidFill>
              </a:rPr>
              <a:t>Can control </a:t>
            </a:r>
            <a:r>
              <a:rPr lang="pl" sz="1000">
                <a:solidFill>
                  <a:schemeClr val="dk1"/>
                </a:solidFill>
              </a:rPr>
              <a:t>(frequency of social meetings, social activity, close relationships, mindset,                                                        political interest, frequency of internet use, weekly worked hours)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708C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400">
                <a:solidFill>
                  <a:srgbClr val="4F8A6D"/>
                </a:solidFill>
                <a:highlight>
                  <a:schemeClr val="lt1"/>
                </a:highlight>
              </a:rPr>
              <a:t>2. Variable harmonization across all ESS rounds</a:t>
            </a:r>
            <a:endParaRPr b="1" sz="1400">
              <a:solidFill>
                <a:srgbClr val="4F8A6D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4F8A6D"/>
                </a:solidFill>
                <a:highlight>
                  <a:schemeClr val="lt1"/>
                </a:highlight>
              </a:rPr>
              <a:t>3. Combining all rounds to one dataset</a:t>
            </a:r>
            <a:endParaRPr b="1" sz="1400">
              <a:solidFill>
                <a:srgbClr val="4F8A6D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4F8A6D"/>
                </a:solidFill>
                <a:highlight>
                  <a:schemeClr val="lt1"/>
                </a:highlight>
              </a:rPr>
              <a:t>4. Recoding variable-specific missing value codes to NaN using SPSS metadata</a:t>
            </a:r>
            <a:endParaRPr sz="1400">
              <a:solidFill>
                <a:srgbClr val="4F8A6D"/>
              </a:solidFill>
            </a:endParaRPr>
          </a:p>
        </p:txBody>
      </p:sp>
      <p:grpSp>
        <p:nvGrpSpPr>
          <p:cNvPr id="105" name="Google Shape;105;p16"/>
          <p:cNvGrpSpPr/>
          <p:nvPr/>
        </p:nvGrpSpPr>
        <p:grpSpPr>
          <a:xfrm>
            <a:off x="331763" y="2535859"/>
            <a:ext cx="3718687" cy="1269704"/>
            <a:chOff x="1703775" y="1592402"/>
            <a:chExt cx="7440350" cy="2540425"/>
          </a:xfrm>
        </p:grpSpPr>
        <p:pic>
          <p:nvPicPr>
            <p:cNvPr id="106" name="Google Shape;10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03775" y="1592402"/>
              <a:ext cx="7440224" cy="2540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6"/>
            <p:cNvSpPr/>
            <p:nvPr/>
          </p:nvSpPr>
          <p:spPr>
            <a:xfrm>
              <a:off x="2622725" y="2468450"/>
              <a:ext cx="17574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8579200" y="2654400"/>
              <a:ext cx="5649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8579200" y="3142200"/>
              <a:ext cx="5649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5617325" y="2802000"/>
              <a:ext cx="35268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8579200" y="3289800"/>
              <a:ext cx="5649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8579200" y="3457523"/>
              <a:ext cx="5649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8579200" y="3630000"/>
              <a:ext cx="5649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8579200" y="3777600"/>
              <a:ext cx="5649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8579200" y="2972100"/>
              <a:ext cx="5649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2567425" y="3954100"/>
              <a:ext cx="4220700" cy="147600"/>
            </a:xfrm>
            <a:prstGeom prst="roundRect">
              <a:avLst>
                <a:gd fmla="val 16667" name="adj"/>
              </a:avLst>
            </a:prstGeom>
            <a:noFill/>
            <a:ln cap="flat" cmpd="sng" w="14300">
              <a:solidFill>
                <a:srgbClr val="4F8A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</p:grpSp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728" y="4260974"/>
            <a:ext cx="17526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5800" y="1465241"/>
            <a:ext cx="2866500" cy="1526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5800" y="2992109"/>
            <a:ext cx="2866500" cy="1537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965800" y="937525"/>
            <a:ext cx="30000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4F8A6D"/>
                </a:solidFill>
                <a:highlight>
                  <a:schemeClr val="lt1"/>
                </a:highlight>
              </a:rPr>
              <a:t>5. Target variable distribution and recoding</a:t>
            </a:r>
            <a:endParaRPr b="1">
              <a:solidFill>
                <a:srgbClr val="4F8A6D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4F8A6D"/>
                </a:solidFill>
              </a:rPr>
              <a:t>6. Saving the final dataset as a Silver Delta table</a:t>
            </a:r>
            <a:endParaRPr b="1">
              <a:solidFill>
                <a:srgbClr val="4F8A6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298900" y="484354"/>
            <a:ext cx="2436300" cy="3935700"/>
          </a:xfrm>
          <a:prstGeom prst="rect">
            <a:avLst/>
          </a:prstGeom>
          <a:noFill/>
          <a:ln cap="flat" cmpd="sng" w="76200">
            <a:solidFill>
              <a:srgbClr val="6AA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00">
                <a:solidFill>
                  <a:schemeClr val="dk1"/>
                </a:solidFill>
              </a:rPr>
              <a:t>Dataset:</a:t>
            </a:r>
            <a:r>
              <a:rPr lang="pl" sz="1200">
                <a:solidFill>
                  <a:schemeClr val="dk1"/>
                </a:solidFill>
              </a:rPr>
              <a:t> European Social Survey (ESS)</a:t>
            </a:r>
            <a:endParaRPr sz="1200">
              <a:solidFill>
                <a:schemeClr val="dk1"/>
              </a:solidFill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00">
                <a:solidFill>
                  <a:schemeClr val="dk1"/>
                </a:solidFill>
              </a:rPr>
              <a:t>Sample size:</a:t>
            </a:r>
            <a:r>
              <a:rPr lang="pl" sz="1200">
                <a:solidFill>
                  <a:schemeClr val="dk1"/>
                </a:solidFill>
              </a:rPr>
              <a:t> 500,000+ observations across 39 countries</a:t>
            </a:r>
            <a:endParaRPr sz="1200">
              <a:solidFill>
                <a:schemeClr val="dk1"/>
              </a:solidFill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00">
                <a:solidFill>
                  <a:schemeClr val="dk1"/>
                </a:solidFill>
              </a:rPr>
              <a:t>Target variable:</a:t>
            </a:r>
            <a:r>
              <a:rPr lang="pl" sz="1200">
                <a:solidFill>
                  <a:schemeClr val="dk1"/>
                </a:solidFill>
              </a:rPr>
              <a:t> Life satisfaction (3 class ordinal)</a:t>
            </a:r>
            <a:endParaRPr sz="1200">
              <a:solidFill>
                <a:schemeClr val="dk1"/>
              </a:solidFill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00">
                <a:solidFill>
                  <a:schemeClr val="dk1"/>
                </a:solidFill>
              </a:rPr>
              <a:t>Features:</a:t>
            </a:r>
            <a:r>
              <a:rPr lang="pl" sz="1200">
                <a:solidFill>
                  <a:schemeClr val="dk1"/>
                </a:solidFill>
              </a:rPr>
              <a:t> 17 predictors</a:t>
            </a:r>
            <a:endParaRPr sz="1200">
              <a:solidFill>
                <a:schemeClr val="dk1"/>
              </a:solidFill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00">
                <a:solidFill>
                  <a:schemeClr val="dk1"/>
                </a:solidFill>
              </a:rPr>
              <a:t>Domains:</a:t>
            </a:r>
            <a:r>
              <a:rPr lang="pl" sz="1200">
                <a:solidFill>
                  <a:schemeClr val="dk1"/>
                </a:solidFill>
              </a:rPr>
              <a:t> Economic, social, health, demographic</a:t>
            </a:r>
            <a:endParaRPr sz="1200">
              <a:solidFill>
                <a:schemeClr val="dk1"/>
              </a:solidFill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00">
                <a:solidFill>
                  <a:schemeClr val="dk1"/>
                </a:solidFill>
              </a:rPr>
              <a:t>Strategy:</a:t>
            </a:r>
            <a:r>
              <a:rPr lang="pl" sz="1200">
                <a:solidFill>
                  <a:schemeClr val="dk1"/>
                </a:solidFill>
              </a:rPr>
              <a:t> Stratified sampling preserves class distribution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6" name="Google Shape;126;p17" title="Screenshot 2026-01-17 at 22.07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350" y="955750"/>
            <a:ext cx="6125149" cy="299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338650" y="492150"/>
            <a:ext cx="3153900" cy="415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7EBE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l" sz="1200">
                <a:solidFill>
                  <a:schemeClr val="dk1"/>
                </a:solidFill>
              </a:rPr>
              <a:t>Random Forest: </a:t>
            </a:r>
            <a:r>
              <a:rPr lang="pl" sz="1200">
                <a:solidFill>
                  <a:schemeClr val="dk1"/>
                </a:solidFill>
              </a:rPr>
              <a:t>59.24% balanced accuracy (beats 58.68% baseline)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l" sz="1200">
                <a:solidFill>
                  <a:schemeClr val="dk1"/>
                </a:solidFill>
              </a:rPr>
              <a:t>Top predictors: </a:t>
            </a:r>
            <a:r>
              <a:rPr lang="pl" sz="1200">
                <a:solidFill>
                  <a:schemeClr val="dk1"/>
                </a:solidFill>
              </a:rPr>
              <a:t>Economic satisfaction (23%), Income feelings (19%), Health (10%)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l" sz="1200">
                <a:solidFill>
                  <a:schemeClr val="dk1"/>
                </a:solidFill>
              </a:rPr>
              <a:t>Economic factors account for 42% of total feature importance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l" sz="1200">
                <a:solidFill>
                  <a:schemeClr val="dk1"/>
                </a:solidFill>
              </a:rPr>
              <a:t>Consistent train/val/test performance indicates good generalization</a:t>
            </a:r>
            <a:endParaRPr/>
          </a:p>
        </p:txBody>
      </p:sp>
      <p:pic>
        <p:nvPicPr>
          <p:cNvPr id="132" name="Google Shape;132;p18" title="Screenshot 2026-01-17 at 22.13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512" y="492150"/>
            <a:ext cx="2336950" cy="262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title="Screenshot 2026-01-17 at 22.15.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500" y="3460775"/>
            <a:ext cx="3961899" cy="1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>
            <a:off x="3619500" y="4092450"/>
            <a:ext cx="455100" cy="391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148925" y="-1068875"/>
            <a:ext cx="4675800" cy="4402500"/>
          </a:xfrm>
          <a:prstGeom prst="ellipse">
            <a:avLst/>
          </a:prstGeom>
          <a:solidFill>
            <a:srgbClr val="D7EBE1"/>
          </a:solidFill>
          <a:ln cap="flat" cmpd="sng" w="9525">
            <a:solidFill>
              <a:srgbClr val="2E3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3852325" y="190500"/>
            <a:ext cx="2337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00">
                <a:solidFill>
                  <a:schemeClr val="dk1"/>
                </a:solidFill>
                <a:highlight>
                  <a:srgbClr val="88AE9C"/>
                </a:highlight>
                <a:latin typeface="Courier New"/>
                <a:ea typeface="Courier New"/>
                <a:cs typeface="Courier New"/>
                <a:sym typeface="Courier New"/>
              </a:rPr>
              <a:t>Feature Importance Analysis</a:t>
            </a:r>
            <a:endParaRPr sz="1000">
              <a:solidFill>
                <a:schemeClr val="dk1"/>
              </a:solidFill>
              <a:highlight>
                <a:srgbClr val="88AE9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392425" y="190500"/>
            <a:ext cx="2337000" cy="3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l" sz="1200">
                <a:solidFill>
                  <a:schemeClr val="dk1"/>
                </a:solidFill>
              </a:rPr>
              <a:t>Class weighting prevents the model from defaulting to the majority class</a:t>
            </a:r>
            <a:endParaRPr sz="12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l" sz="1200">
                <a:solidFill>
                  <a:schemeClr val="dk1"/>
                </a:solidFill>
              </a:rPr>
              <a:t>Macro avg (54.59% precision, 59.24% recall) shows model learns all classes</a:t>
            </a:r>
            <a:endParaRPr sz="12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l" sz="1200">
                <a:solidFill>
                  <a:schemeClr val="dk1"/>
                </a:solidFill>
              </a:rPr>
              <a:t>Weighted avg (69.79% precision) inflated by majority class dominance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3852325" y="3122075"/>
            <a:ext cx="181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chemeClr val="dk1"/>
                </a:solidFill>
                <a:highlight>
                  <a:srgbClr val="88AE9C"/>
                </a:highlight>
                <a:latin typeface="Courier New"/>
                <a:ea typeface="Courier New"/>
                <a:cs typeface="Courier New"/>
                <a:sym typeface="Courier New"/>
              </a:rPr>
              <a:t>Per-Class Performance</a:t>
            </a:r>
            <a:endParaRPr sz="1000">
              <a:solidFill>
                <a:schemeClr val="dk1"/>
              </a:solidFill>
              <a:highlight>
                <a:srgbClr val="88AE9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33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/>
        </p:nvSpPr>
        <p:spPr>
          <a:xfrm>
            <a:off x="527325" y="3212650"/>
            <a:ext cx="6003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3A36"/>
              </a:solidFill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713925" y="-154150"/>
            <a:ext cx="46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755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/>
        </p:nvSpPr>
        <p:spPr>
          <a:xfrm>
            <a:off x="527325" y="3212650"/>
            <a:ext cx="6003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3A36"/>
              </a:solidFill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713925" y="-154150"/>
            <a:ext cx="46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7" name="Google Shape;1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7421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/>
        </p:nvSpPr>
        <p:spPr>
          <a:xfrm>
            <a:off x="527325" y="3212650"/>
            <a:ext cx="6003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3A36"/>
              </a:solidFill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713925" y="-154150"/>
            <a:ext cx="46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7421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527325" y="3212650"/>
            <a:ext cx="6003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3A36"/>
              </a:solidFill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713925" y="-154150"/>
            <a:ext cx="46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223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/>
        </p:nvSpPr>
        <p:spPr>
          <a:xfrm>
            <a:off x="527325" y="3212650"/>
            <a:ext cx="6003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3A36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713925" y="-154150"/>
            <a:ext cx="46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5" y="0"/>
            <a:ext cx="9144000" cy="5123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/>
        </p:nvSpPr>
        <p:spPr>
          <a:xfrm>
            <a:off x="527325" y="3212650"/>
            <a:ext cx="6003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3A36"/>
              </a:solidFill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713925" y="-154150"/>
            <a:ext cx="46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5" name="Google Shape;18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6266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/>
        </p:nvSpPr>
        <p:spPr>
          <a:xfrm>
            <a:off x="527325" y="3212650"/>
            <a:ext cx="6003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3A36"/>
              </a:solidFill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713925" y="-154150"/>
            <a:ext cx="46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7421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